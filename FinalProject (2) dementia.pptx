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59" r:id="rId5"/>
    <p:sldId id="262" r:id="rId6"/>
    <p:sldId id="272" r:id="rId7"/>
    <p:sldId id="273" r:id="rId8"/>
    <p:sldId id="274" r:id="rId9"/>
    <p:sldId id="270" r:id="rId10"/>
    <p:sldId id="266" r:id="rId11"/>
    <p:sldId id="267" r:id="rId12"/>
    <p:sldId id="268" r:id="rId13"/>
    <p:sldId id="269"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0D49C-E5ED-499F-A39F-C01F91021E1D}" v="89" dt="2025-04-24T16:56:5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2606623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190212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3944698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EDFBA63-6B1C-4467-BA9E-B6F5CEF3D66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41754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DFBA63-6B1C-4467-BA9E-B6F5CEF3D665}"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2955296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DFBA63-6B1C-4467-BA9E-B6F5CEF3D665}"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79032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DFBA63-6B1C-4467-BA9E-B6F5CEF3D665}"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132619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DFBA63-6B1C-4467-BA9E-B6F5CEF3D66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207623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DFBA63-6B1C-4467-BA9E-B6F5CEF3D66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319535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3337219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773F8E-3303-4CC7-A373-223FE5F79E4D}"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1667977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EDFBA63-6B1C-4467-BA9E-B6F5CEF3D66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2501319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EDFBA63-6B1C-4467-BA9E-B6F5CEF3D66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773F8E-3303-4CC7-A373-223FE5F79E4D}"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688023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EDFBA63-6B1C-4467-BA9E-B6F5CEF3D66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2966236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860735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DFBA63-6B1C-4467-BA9E-B6F5CEF3D66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773F8E-3303-4CC7-A373-223FE5F79E4D}" type="slidenum">
              <a:rPr lang="en-IN" smtClean="0"/>
              <a:t>‹#›</a:t>
            </a:fld>
            <a:endParaRPr lang="en-IN"/>
          </a:p>
        </p:txBody>
      </p:sp>
    </p:spTree>
    <p:extLst>
      <p:ext uri="{BB962C8B-B14F-4D97-AF65-F5344CB8AC3E}">
        <p14:creationId xmlns:p14="http://schemas.microsoft.com/office/powerpoint/2010/main" val="2700200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EDFBA63-6B1C-4467-BA9E-B6F5CEF3D665}" type="datetimeFigureOut">
              <a:rPr lang="en-IN" smtClean="0"/>
              <a:t>09-12-2025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0773F8E-3303-4CC7-A373-223FE5F79E4D}" type="slidenum">
              <a:rPr lang="en-IN" smtClean="0"/>
              <a:t>‹#›</a:t>
            </a:fld>
            <a:endParaRPr lang="en-IN"/>
          </a:p>
        </p:txBody>
      </p:sp>
    </p:spTree>
    <p:extLst>
      <p:ext uri="{BB962C8B-B14F-4D97-AF65-F5344CB8AC3E}">
        <p14:creationId xmlns:p14="http://schemas.microsoft.com/office/powerpoint/2010/main" val="10771228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997CCB-8557-AB21-DC85-2667E0213797}"/>
              </a:ext>
            </a:extLst>
          </p:cNvPr>
          <p:cNvPicPr/>
          <p:nvPr/>
        </p:nvPicPr>
        <p:blipFill>
          <a:blip r:embed="rId2"/>
          <a:stretch>
            <a:fillRect/>
          </a:stretch>
        </p:blipFill>
        <p:spPr>
          <a:xfrm>
            <a:off x="4876165" y="204490"/>
            <a:ext cx="2439670" cy="2142490"/>
          </a:xfrm>
          <a:prstGeom prst="rect">
            <a:avLst/>
          </a:prstGeom>
        </p:spPr>
      </p:pic>
      <p:sp>
        <p:nvSpPr>
          <p:cNvPr id="5" name="Title 1">
            <a:extLst>
              <a:ext uri="{FF2B5EF4-FFF2-40B4-BE49-F238E27FC236}">
                <a16:creationId xmlns:a16="http://schemas.microsoft.com/office/drawing/2014/main" id="{7FA12D1B-17CD-A213-0254-30A27CEBC4C4}"/>
              </a:ext>
            </a:extLst>
          </p:cNvPr>
          <p:cNvSpPr>
            <a:spLocks noGrp="1"/>
          </p:cNvSpPr>
          <p:nvPr/>
        </p:nvSpPr>
        <p:spPr>
          <a:xfrm>
            <a:off x="1397306" y="2346980"/>
            <a:ext cx="9397387" cy="1549926"/>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6985" marR="635" indent="-6350" algn="ctr">
              <a:lnSpc>
                <a:spcPct val="107000"/>
              </a:lnSpc>
              <a:spcBef>
                <a:spcPts val="280"/>
              </a:spcBef>
              <a:spcAft>
                <a:spcPts val="165"/>
              </a:spcAft>
            </a:pPr>
            <a:r>
              <a:rPr lang="en-IN" sz="3200" b="1" kern="100" dirty="0">
                <a:solidFill>
                  <a:srgbClr val="000000"/>
                </a:solidFill>
                <a:effectLst/>
                <a:latin typeface="Times New Roman" panose="02020603050405020304" pitchFamily="18" charset="0"/>
                <a:ea typeface="Times New Roman" panose="02020603050405020304" pitchFamily="18" charset="0"/>
              </a:rPr>
              <a:t>Project Report On </a:t>
            </a:r>
            <a:br>
              <a:rPr lang="en-IN" sz="3200" kern="100" dirty="0">
                <a:solidFill>
                  <a:srgbClr val="000000"/>
                </a:solidFill>
                <a:effectLst/>
                <a:latin typeface="Times New Roman" panose="02020603050405020304" pitchFamily="18" charset="0"/>
                <a:ea typeface="Times New Roman" panose="02020603050405020304" pitchFamily="18" charset="0"/>
              </a:rPr>
            </a:br>
            <a:r>
              <a:rPr lang="en-IN" sz="3200" b="1" kern="100" dirty="0">
                <a:solidFill>
                  <a:srgbClr val="000000"/>
                </a:solidFill>
                <a:effectLst/>
                <a:latin typeface="Times New Roman" panose="02020603050405020304" pitchFamily="18" charset="0"/>
                <a:ea typeface="Times New Roman" panose="02020603050405020304" pitchFamily="18" charset="0"/>
              </a:rPr>
              <a:t>“Dementia Detection”</a:t>
            </a:r>
            <a:br>
              <a:rPr lang="en-IN" sz="3200" b="1" kern="100" dirty="0">
                <a:solidFill>
                  <a:srgbClr val="000000"/>
                </a:solidFill>
                <a:effectLst/>
                <a:latin typeface="Times New Roman" panose="02020603050405020304" pitchFamily="18" charset="0"/>
                <a:ea typeface="Times New Roman" panose="02020603050405020304" pitchFamily="18" charset="0"/>
              </a:rPr>
            </a:br>
            <a:r>
              <a:rPr lang="en-IN" sz="2000" b="1" kern="100" dirty="0">
                <a:solidFill>
                  <a:srgbClr val="000000"/>
                </a:solidFill>
                <a:latin typeface="Times New Roman" panose="02020603050405020304" pitchFamily="18" charset="0"/>
                <a:ea typeface="Times New Roman" panose="02020603050405020304" pitchFamily="18" charset="0"/>
              </a:rPr>
              <a:t>P</a:t>
            </a:r>
            <a:r>
              <a:rPr lang="en-IN" sz="2000" b="1" kern="100" dirty="0">
                <a:solidFill>
                  <a:srgbClr val="000000"/>
                </a:solidFill>
                <a:effectLst/>
                <a:latin typeface="Times New Roman" panose="02020603050405020304" pitchFamily="18" charset="0"/>
                <a:ea typeface="Times New Roman" panose="02020603050405020304" pitchFamily="18" charset="0"/>
              </a:rPr>
              <a:t>roject Advisor :  Dr. S.K. Tripathi</a:t>
            </a:r>
            <a:endParaRPr lang="en-IN" sz="2000" b="1" dirty="0"/>
          </a:p>
        </p:txBody>
      </p:sp>
      <p:sp>
        <p:nvSpPr>
          <p:cNvPr id="6" name="Rectangle 5">
            <a:extLst>
              <a:ext uri="{FF2B5EF4-FFF2-40B4-BE49-F238E27FC236}">
                <a16:creationId xmlns:a16="http://schemas.microsoft.com/office/drawing/2014/main" id="{07A71194-D230-A252-7696-65191333F0DD}"/>
              </a:ext>
            </a:extLst>
          </p:cNvPr>
          <p:cNvSpPr>
            <a:spLocks noChangeArrowheads="1"/>
          </p:cNvSpPr>
          <p:nvPr/>
        </p:nvSpPr>
        <p:spPr bwMode="auto">
          <a:xfrm>
            <a:off x="0" y="389690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1pPr>
            <a:lvl2pPr marL="4572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2pPr>
            <a:lvl3pPr marL="9144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3pPr>
            <a:lvl4pPr marL="13716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4pPr>
            <a:lvl5pPr marL="18288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5pPr>
            <a:lvl6pPr marL="22860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7432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2004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657600"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panose="020B0604020202020204" pitchFamily="34" charset="0"/>
                <a:ea typeface="Times New Roman" panose="02020603050405020304" pitchFamily="18" charset="0"/>
              </a:rPr>
              <a:t>Submitted By: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table">
            <a:extLst>
              <a:ext uri="{FF2B5EF4-FFF2-40B4-BE49-F238E27FC236}">
                <a16:creationId xmlns:a16="http://schemas.microsoft.com/office/drawing/2014/main" id="{A22DC6DD-019F-1251-DAAF-C6D8EDE0A18C}"/>
              </a:ext>
            </a:extLst>
          </p:cNvPr>
          <p:cNvPicPr>
            <a:picLocks noChangeAspect="1"/>
          </p:cNvPicPr>
          <p:nvPr/>
        </p:nvPicPr>
        <p:blipFill>
          <a:blip r:embed="rId3"/>
          <a:stretch>
            <a:fillRect/>
          </a:stretch>
        </p:blipFill>
        <p:spPr>
          <a:xfrm>
            <a:off x="4483950" y="4567674"/>
            <a:ext cx="3420745" cy="1336358"/>
          </a:xfrm>
          <a:prstGeom prst="rect">
            <a:avLst/>
          </a:prstGeom>
        </p:spPr>
      </p:pic>
    </p:spTree>
    <p:extLst>
      <p:ext uri="{BB962C8B-B14F-4D97-AF65-F5344CB8AC3E}">
        <p14:creationId xmlns:p14="http://schemas.microsoft.com/office/powerpoint/2010/main" val="2963530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8E31B-596A-9F4F-5CED-5FAEF217E36D}"/>
              </a:ext>
            </a:extLst>
          </p:cNvPr>
          <p:cNvSpPr>
            <a:spLocks noGrp="1"/>
          </p:cNvSpPr>
          <p:nvPr>
            <p:ph type="title"/>
          </p:nvPr>
        </p:nvSpPr>
        <p:spPr>
          <a:xfrm>
            <a:off x="1897627" y="624110"/>
            <a:ext cx="9606986" cy="1280890"/>
          </a:xfrm>
        </p:spPr>
        <p:txBody>
          <a:bodyPr/>
          <a:lstStyle/>
          <a:p>
            <a:r>
              <a:rPr lang="en-IN"/>
              <a:t>Problem Statement</a:t>
            </a:r>
          </a:p>
        </p:txBody>
      </p:sp>
      <p:sp>
        <p:nvSpPr>
          <p:cNvPr id="3" name="Content Placeholder 2">
            <a:extLst>
              <a:ext uri="{FF2B5EF4-FFF2-40B4-BE49-F238E27FC236}">
                <a16:creationId xmlns:a16="http://schemas.microsoft.com/office/drawing/2014/main" id="{482C5405-0094-8247-B3AC-58DCDED20461}"/>
              </a:ext>
            </a:extLst>
          </p:cNvPr>
          <p:cNvSpPr>
            <a:spLocks noGrp="1"/>
          </p:cNvSpPr>
          <p:nvPr>
            <p:ph idx="1"/>
          </p:nvPr>
        </p:nvSpPr>
        <p:spPr>
          <a:xfrm>
            <a:off x="1897626" y="1553497"/>
            <a:ext cx="9606986" cy="4916129"/>
          </a:xfrm>
        </p:spPr>
        <p:txBody>
          <a:bodyPr>
            <a:normAutofit/>
          </a:bodyPr>
          <a:lstStyle/>
          <a:p>
            <a:pPr algn="just"/>
            <a:r>
              <a:rPr lang="en-GB" sz="2000" b="1" dirty="0"/>
              <a:t>Context:</a:t>
            </a:r>
            <a:r>
              <a:rPr lang="en-GB" sz="2000" dirty="0"/>
              <a:t> Alzheimer’s Disease is a progressive neurological disorder requiring early detection for effective management.</a:t>
            </a:r>
          </a:p>
          <a:p>
            <a:pPr marL="0" indent="0" algn="just">
              <a:buNone/>
            </a:pPr>
            <a:endParaRPr lang="en-GB" sz="2000" dirty="0"/>
          </a:p>
          <a:p>
            <a:r>
              <a:rPr lang="en-GB" sz="2000" b="1" dirty="0"/>
              <a:t>The Issue: </a:t>
            </a:r>
            <a:r>
              <a:rPr lang="en-GB" sz="2000" dirty="0"/>
              <a:t>Subtle structural changes in MRI scans (like "Very Mild" dementia) are difficult to distinguish from "Non-Demented" brains using traditional methods.</a:t>
            </a:r>
          </a:p>
          <a:p>
            <a:endParaRPr lang="en-GB" sz="2000" dirty="0"/>
          </a:p>
          <a:p>
            <a:r>
              <a:rPr lang="en-GB" sz="2000" b="1" dirty="0"/>
              <a:t>Objective:</a:t>
            </a:r>
            <a:r>
              <a:rPr lang="en-GB" sz="2000" dirty="0"/>
              <a:t> To build a robust Deep Learning model that handles class imbalance effectively and combines local feature extraction (CNN) with global context understanding (Transformers) to classify MRI scans into four stages of dementia.</a:t>
            </a:r>
          </a:p>
          <a:p>
            <a:pPr marL="0" indent="0">
              <a:buNone/>
            </a:pPr>
            <a:endParaRPr lang="en-GB" sz="2000" dirty="0"/>
          </a:p>
        </p:txBody>
      </p:sp>
    </p:spTree>
    <p:extLst>
      <p:ext uri="{BB962C8B-B14F-4D97-AF65-F5344CB8AC3E}">
        <p14:creationId xmlns:p14="http://schemas.microsoft.com/office/powerpoint/2010/main" val="1456460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A926-B0D0-83AE-1969-019A067A7BB9}"/>
              </a:ext>
            </a:extLst>
          </p:cNvPr>
          <p:cNvSpPr>
            <a:spLocks noGrp="1"/>
          </p:cNvSpPr>
          <p:nvPr>
            <p:ph type="title"/>
          </p:nvPr>
        </p:nvSpPr>
        <p:spPr>
          <a:xfrm>
            <a:off x="1973493" y="574949"/>
            <a:ext cx="8911687" cy="1280890"/>
          </a:xfrm>
        </p:spPr>
        <p:txBody>
          <a:bodyPr/>
          <a:lstStyle/>
          <a:p>
            <a:r>
              <a:rPr lang="en-IN" dirty="0"/>
              <a:t>About Dataset Used</a:t>
            </a:r>
          </a:p>
        </p:txBody>
      </p:sp>
      <p:sp>
        <p:nvSpPr>
          <p:cNvPr id="3" name="Content Placeholder 2">
            <a:extLst>
              <a:ext uri="{FF2B5EF4-FFF2-40B4-BE49-F238E27FC236}">
                <a16:creationId xmlns:a16="http://schemas.microsoft.com/office/drawing/2014/main" id="{C0038D4C-D195-5FF0-1D3B-58641B0E40DC}"/>
              </a:ext>
            </a:extLst>
          </p:cNvPr>
          <p:cNvSpPr>
            <a:spLocks noGrp="1"/>
          </p:cNvSpPr>
          <p:nvPr>
            <p:ph idx="1"/>
          </p:nvPr>
        </p:nvSpPr>
        <p:spPr>
          <a:xfrm>
            <a:off x="1973493" y="1618846"/>
            <a:ext cx="8915400" cy="4477153"/>
          </a:xfrm>
        </p:spPr>
        <p:txBody>
          <a:bodyPr>
            <a:normAutofit/>
          </a:bodyPr>
          <a:lstStyle/>
          <a:p>
            <a:endParaRPr lang="en-GB" dirty="0"/>
          </a:p>
          <a:p>
            <a:r>
              <a:rPr lang="en-IN" dirty="0"/>
              <a:t> Name : Alzheimer's MRI 4-Class Dataset</a:t>
            </a:r>
          </a:p>
          <a:p>
            <a:r>
              <a:rPr lang="en-IN" dirty="0"/>
              <a:t>Data-type : 2D MRI Grayscale Images.</a:t>
            </a:r>
          </a:p>
          <a:p>
            <a:r>
              <a:rPr lang="en-IN" dirty="0"/>
              <a:t>Resolution : 176*208 pixels</a:t>
            </a:r>
          </a:p>
          <a:p>
            <a:r>
              <a:rPr lang="en-IN" dirty="0"/>
              <a:t>Classes : 4 categories </a:t>
            </a:r>
          </a:p>
          <a:p>
            <a:pPr lvl="1"/>
            <a:r>
              <a:rPr lang="en-IN" dirty="0"/>
              <a:t>Non-Demented</a:t>
            </a:r>
          </a:p>
          <a:p>
            <a:pPr lvl="1"/>
            <a:r>
              <a:rPr lang="en-IN" dirty="0"/>
              <a:t>Very-mild Demented</a:t>
            </a:r>
          </a:p>
          <a:p>
            <a:pPr lvl="1"/>
            <a:r>
              <a:rPr lang="en-IN" dirty="0"/>
              <a:t>Mild Demented</a:t>
            </a:r>
          </a:p>
          <a:p>
            <a:pPr lvl="1"/>
            <a:r>
              <a:rPr lang="en-IN" dirty="0"/>
              <a:t>Moderate Demented</a:t>
            </a:r>
          </a:p>
          <a:p>
            <a:r>
              <a:rPr lang="en-GB" b="1" dirty="0"/>
              <a:t>Validation Strategy:</a:t>
            </a:r>
            <a:r>
              <a:rPr lang="en-GB" dirty="0"/>
              <a:t> 20% of the data is held out for validation, preserving the original (unbalanced) real-world distribution to ensure honest evaluation.</a:t>
            </a:r>
            <a:endParaRPr lang="en-IN" dirty="0"/>
          </a:p>
          <a:p>
            <a:pPr lvl="1"/>
            <a:endParaRPr lang="en-IN" dirty="0"/>
          </a:p>
        </p:txBody>
      </p:sp>
    </p:spTree>
    <p:extLst>
      <p:ext uri="{BB962C8B-B14F-4D97-AF65-F5344CB8AC3E}">
        <p14:creationId xmlns:p14="http://schemas.microsoft.com/office/powerpoint/2010/main" val="105867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0AC4-4797-CFDA-F2AB-2E84149EFADA}"/>
              </a:ext>
            </a:extLst>
          </p:cNvPr>
          <p:cNvSpPr>
            <a:spLocks noGrp="1"/>
          </p:cNvSpPr>
          <p:nvPr>
            <p:ph type="title"/>
          </p:nvPr>
        </p:nvSpPr>
        <p:spPr/>
        <p:txBody>
          <a:bodyPr/>
          <a:lstStyle/>
          <a:p>
            <a:r>
              <a:rPr lang="en-IN" dirty="0"/>
              <a:t>Data Preprocessing</a:t>
            </a:r>
          </a:p>
        </p:txBody>
      </p:sp>
      <p:sp>
        <p:nvSpPr>
          <p:cNvPr id="3" name="Content Placeholder 2">
            <a:extLst>
              <a:ext uri="{FF2B5EF4-FFF2-40B4-BE49-F238E27FC236}">
                <a16:creationId xmlns:a16="http://schemas.microsoft.com/office/drawing/2014/main" id="{5DE50CBD-D736-62B2-3514-9FA427A8E292}"/>
              </a:ext>
            </a:extLst>
          </p:cNvPr>
          <p:cNvSpPr>
            <a:spLocks noGrp="1"/>
          </p:cNvSpPr>
          <p:nvPr>
            <p:ph idx="1"/>
          </p:nvPr>
        </p:nvSpPr>
        <p:spPr>
          <a:xfrm>
            <a:off x="2360445" y="1622322"/>
            <a:ext cx="9376646" cy="4522839"/>
          </a:xfrm>
        </p:spPr>
        <p:txBody>
          <a:bodyPr>
            <a:noAutofit/>
          </a:bodyPr>
          <a:lstStyle/>
          <a:p>
            <a:r>
              <a:rPr lang="en-GB" dirty="0"/>
              <a:t>Loading: Images are loaded in grayscale to focus on structural density rather than colour artifacts.</a:t>
            </a:r>
          </a:p>
          <a:p>
            <a:r>
              <a:rPr lang="en-GB" dirty="0"/>
              <a:t>Stratified Split: Train/Test split (80/20) ensures all classes are present in both sets.</a:t>
            </a:r>
          </a:p>
          <a:p>
            <a:r>
              <a:rPr lang="en-GB" dirty="0"/>
              <a:t>Handling Imbalance (Crucial Step):</a:t>
            </a:r>
          </a:p>
          <a:p>
            <a:pPr lvl="1"/>
            <a:r>
              <a:rPr lang="en-GB" sz="1800" dirty="0"/>
              <a:t>The training set undergoes Oversampling to balance the minority classes.</a:t>
            </a:r>
          </a:p>
          <a:p>
            <a:pPr lvl="1"/>
            <a:r>
              <a:rPr lang="en-GB" sz="1800" dirty="0"/>
              <a:t>Target: All classes in the training set are brought to a count of ~2560 images.</a:t>
            </a:r>
          </a:p>
          <a:p>
            <a:r>
              <a:rPr lang="en-GB" dirty="0"/>
              <a:t>Augmentation: To prevent overfitting on duplicated images, the generator applies:</a:t>
            </a:r>
          </a:p>
          <a:p>
            <a:pPr lvl="1"/>
            <a:r>
              <a:rPr lang="en-GB" sz="1800" dirty="0"/>
              <a:t>Rotation (8 degrees)</a:t>
            </a:r>
          </a:p>
          <a:p>
            <a:pPr lvl="1"/>
            <a:r>
              <a:rPr lang="en-GB" sz="1800" dirty="0"/>
              <a:t>Zoom (5%)</a:t>
            </a:r>
          </a:p>
          <a:p>
            <a:pPr lvl="1"/>
            <a:r>
              <a:rPr lang="en-GB" sz="1800" dirty="0"/>
              <a:t>Shift (Width/Height 5%).</a:t>
            </a:r>
            <a:endParaRPr lang="en-IN" sz="1800" dirty="0"/>
          </a:p>
        </p:txBody>
      </p:sp>
    </p:spTree>
    <p:extLst>
      <p:ext uri="{BB962C8B-B14F-4D97-AF65-F5344CB8AC3E}">
        <p14:creationId xmlns:p14="http://schemas.microsoft.com/office/powerpoint/2010/main" val="303800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9675-DFFE-68A1-22C5-8186EBBEEA5C}"/>
              </a:ext>
            </a:extLst>
          </p:cNvPr>
          <p:cNvSpPr>
            <a:spLocks noGrp="1"/>
          </p:cNvSpPr>
          <p:nvPr>
            <p:ph type="title"/>
          </p:nvPr>
        </p:nvSpPr>
        <p:spPr/>
        <p:txBody>
          <a:bodyPr/>
          <a:lstStyle/>
          <a:p>
            <a:r>
              <a:rPr lang="en-IN" dirty="0"/>
              <a:t>Proposed Methodology</a:t>
            </a:r>
          </a:p>
        </p:txBody>
      </p:sp>
      <p:sp>
        <p:nvSpPr>
          <p:cNvPr id="5" name="Content Placeholder 4">
            <a:extLst>
              <a:ext uri="{FF2B5EF4-FFF2-40B4-BE49-F238E27FC236}">
                <a16:creationId xmlns:a16="http://schemas.microsoft.com/office/drawing/2014/main" id="{656F3979-BA62-3741-8C8C-D6EA3B004DD2}"/>
              </a:ext>
            </a:extLst>
          </p:cNvPr>
          <p:cNvSpPr>
            <a:spLocks noGrp="1"/>
          </p:cNvSpPr>
          <p:nvPr>
            <p:ph idx="1"/>
          </p:nvPr>
        </p:nvSpPr>
        <p:spPr>
          <a:xfrm>
            <a:off x="2589212" y="2133600"/>
            <a:ext cx="8911687" cy="3777622"/>
          </a:xfrm>
        </p:spPr>
        <p:txBody>
          <a:bodyPr>
            <a:normAutofit/>
          </a:bodyPr>
          <a:lstStyle/>
          <a:p>
            <a:pPr>
              <a:buFont typeface="+mj-lt"/>
              <a:buAutoNum type="arabicPeriod"/>
            </a:pPr>
            <a:r>
              <a:rPr lang="en-GB" sz="2000" b="1" dirty="0"/>
              <a:t>CNN (Convolutional Neural Network):</a:t>
            </a:r>
            <a:r>
              <a:rPr lang="en-GB" sz="2000" dirty="0"/>
              <a:t> For extracting local features like edges and tissue boundaries.</a:t>
            </a:r>
          </a:p>
          <a:p>
            <a:pPr>
              <a:buFont typeface="+mj-lt"/>
              <a:buAutoNum type="arabicPeriod"/>
            </a:pPr>
            <a:endParaRPr lang="en-GB" sz="2000" dirty="0"/>
          </a:p>
          <a:p>
            <a:pPr>
              <a:buFont typeface="+mj-lt"/>
              <a:buAutoNum type="arabicPeriod"/>
            </a:pPr>
            <a:r>
              <a:rPr lang="en-GB" sz="2000" b="1" dirty="0"/>
              <a:t>CBAM (Convolutional Block Attention Module):</a:t>
            </a:r>
            <a:r>
              <a:rPr lang="en-GB" sz="2000" dirty="0"/>
              <a:t> A mechanism that refines features by applying "Channel Attention" (what to look at) and "Spatial Attention" (where to look).</a:t>
            </a:r>
          </a:p>
          <a:p>
            <a:pPr>
              <a:buFont typeface="+mj-lt"/>
              <a:buAutoNum type="arabicPeriod"/>
            </a:pPr>
            <a:endParaRPr lang="en-GB" sz="2000" dirty="0"/>
          </a:p>
          <a:p>
            <a:pPr>
              <a:buFont typeface="+mj-lt"/>
              <a:buAutoNum type="arabicPeriod"/>
            </a:pPr>
            <a:r>
              <a:rPr lang="en-GB" sz="2000" b="1" dirty="0" err="1"/>
              <a:t>ViT</a:t>
            </a:r>
            <a:r>
              <a:rPr lang="en-GB" sz="2000" b="1" dirty="0"/>
              <a:t> (Vision Transformer):</a:t>
            </a:r>
            <a:r>
              <a:rPr lang="en-GB" sz="2000" dirty="0"/>
              <a:t> Captures global relationships between distant parts of the brain image.</a:t>
            </a:r>
            <a:endParaRPr lang="en-IN" sz="2000" dirty="0"/>
          </a:p>
        </p:txBody>
      </p:sp>
    </p:spTree>
    <p:extLst>
      <p:ext uri="{BB962C8B-B14F-4D97-AF65-F5344CB8AC3E}">
        <p14:creationId xmlns:p14="http://schemas.microsoft.com/office/powerpoint/2010/main" val="2811026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D4279-F783-EBF0-6FD4-E202EBD8D3FE}"/>
              </a:ext>
            </a:extLst>
          </p:cNvPr>
          <p:cNvSpPr>
            <a:spLocks noGrp="1"/>
          </p:cNvSpPr>
          <p:nvPr>
            <p:ph type="title"/>
          </p:nvPr>
        </p:nvSpPr>
        <p:spPr/>
        <p:txBody>
          <a:bodyPr/>
          <a:lstStyle/>
          <a:p>
            <a:r>
              <a:rPr lang="en-IN" dirty="0"/>
              <a:t>CNN Architecture</a:t>
            </a:r>
          </a:p>
        </p:txBody>
      </p:sp>
      <p:pic>
        <p:nvPicPr>
          <p:cNvPr id="5" name="Content Placeholder 4">
            <a:extLst>
              <a:ext uri="{FF2B5EF4-FFF2-40B4-BE49-F238E27FC236}">
                <a16:creationId xmlns:a16="http://schemas.microsoft.com/office/drawing/2014/main" id="{03B27B62-05BF-3120-4810-1C55CBA9F233}"/>
              </a:ext>
            </a:extLst>
          </p:cNvPr>
          <p:cNvPicPr>
            <a:picLocks noGrp="1" noChangeAspect="1"/>
          </p:cNvPicPr>
          <p:nvPr>
            <p:ph idx="1"/>
          </p:nvPr>
        </p:nvPicPr>
        <p:blipFill>
          <a:blip r:embed="rId2"/>
          <a:stretch>
            <a:fillRect/>
          </a:stretch>
        </p:blipFill>
        <p:spPr>
          <a:xfrm>
            <a:off x="2592925" y="1532488"/>
            <a:ext cx="8915400" cy="3328656"/>
          </a:xfrm>
          <a:prstGeom prst="rect">
            <a:avLst/>
          </a:prstGeom>
        </p:spPr>
      </p:pic>
      <p:sp>
        <p:nvSpPr>
          <p:cNvPr id="6" name="TextBox 5">
            <a:extLst>
              <a:ext uri="{FF2B5EF4-FFF2-40B4-BE49-F238E27FC236}">
                <a16:creationId xmlns:a16="http://schemas.microsoft.com/office/drawing/2014/main" id="{C0E35111-208D-4346-1F3A-7E7FCF9309D8}"/>
              </a:ext>
            </a:extLst>
          </p:cNvPr>
          <p:cNvSpPr txBox="1"/>
          <p:nvPr/>
        </p:nvSpPr>
        <p:spPr>
          <a:xfrm>
            <a:off x="3088199" y="4935794"/>
            <a:ext cx="8416413" cy="2031325"/>
          </a:xfrm>
          <a:prstGeom prst="rect">
            <a:avLst/>
          </a:prstGeom>
          <a:noFill/>
        </p:spPr>
        <p:txBody>
          <a:bodyPr wrap="square" rtlCol="0">
            <a:spAutoFit/>
          </a:bodyPr>
          <a:lstStyle/>
          <a:p>
            <a:pPr fontAlgn="base"/>
            <a:r>
              <a:rPr lang="en-GB" b="1" dirty="0"/>
              <a:t>Advantages of CNNs</a:t>
            </a:r>
          </a:p>
          <a:p>
            <a:pPr marL="285750" indent="-285750" fontAlgn="base">
              <a:buFont typeface="Arial" panose="020B0604020202020204" pitchFamily="34" charset="0"/>
              <a:buChar char="•"/>
            </a:pPr>
            <a:r>
              <a:rPr lang="en-GB" dirty="0"/>
              <a:t>Good at detecting patterns and features in images, videos, and audio signals.</a:t>
            </a:r>
          </a:p>
          <a:p>
            <a:pPr marL="285750" indent="-285750" fontAlgn="base">
              <a:buFont typeface="Arial" panose="020B0604020202020204" pitchFamily="34" charset="0"/>
              <a:buChar char="•"/>
            </a:pPr>
            <a:r>
              <a:rPr lang="en-GB" dirty="0"/>
              <a:t>Robust to translation, rotation, and scaling invariance.</a:t>
            </a:r>
          </a:p>
          <a:p>
            <a:pPr marL="285750" indent="-285750" fontAlgn="base">
              <a:buFont typeface="Arial" panose="020B0604020202020204" pitchFamily="34" charset="0"/>
              <a:buChar char="•"/>
            </a:pPr>
            <a:r>
              <a:rPr lang="en-GB" dirty="0"/>
              <a:t>End-to-end training, no need for manual feature extraction.</a:t>
            </a:r>
          </a:p>
          <a:p>
            <a:pPr marL="285750" indent="-285750" fontAlgn="base">
              <a:buFont typeface="Arial" panose="020B0604020202020204" pitchFamily="34" charset="0"/>
              <a:buChar char="•"/>
            </a:pPr>
            <a:r>
              <a:rPr lang="en-GB" dirty="0"/>
              <a:t>Can handle large amounts of data and achieve high accuracy.</a:t>
            </a:r>
          </a:p>
          <a:p>
            <a:endParaRPr lang="en-IN" dirty="0"/>
          </a:p>
        </p:txBody>
      </p:sp>
    </p:spTree>
    <p:extLst>
      <p:ext uri="{BB962C8B-B14F-4D97-AF65-F5344CB8AC3E}">
        <p14:creationId xmlns:p14="http://schemas.microsoft.com/office/powerpoint/2010/main" val="650245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A943-32D2-0205-AA1F-8FD224CEF764}"/>
              </a:ext>
            </a:extLst>
          </p:cNvPr>
          <p:cNvSpPr>
            <a:spLocks noGrp="1"/>
          </p:cNvSpPr>
          <p:nvPr>
            <p:ph type="title"/>
          </p:nvPr>
        </p:nvSpPr>
        <p:spPr/>
        <p:txBody>
          <a:bodyPr/>
          <a:lstStyle/>
          <a:p>
            <a:r>
              <a:rPr lang="en-IN" dirty="0"/>
              <a:t>CBAM Architecture</a:t>
            </a:r>
          </a:p>
        </p:txBody>
      </p:sp>
      <p:sp>
        <p:nvSpPr>
          <p:cNvPr id="3" name="Content Placeholder 2">
            <a:extLst>
              <a:ext uri="{FF2B5EF4-FFF2-40B4-BE49-F238E27FC236}">
                <a16:creationId xmlns:a16="http://schemas.microsoft.com/office/drawing/2014/main" id="{2D53F659-0C91-655F-4B57-246E52BA59A4}"/>
              </a:ext>
            </a:extLst>
          </p:cNvPr>
          <p:cNvSpPr>
            <a:spLocks noGrp="1"/>
          </p:cNvSpPr>
          <p:nvPr>
            <p:ph idx="1"/>
          </p:nvPr>
        </p:nvSpPr>
        <p:spPr>
          <a:xfrm>
            <a:off x="2589212" y="1321562"/>
            <a:ext cx="8915400" cy="2326065"/>
          </a:xfrm>
        </p:spPr>
        <p:txBody>
          <a:bodyPr/>
          <a:lstStyle/>
          <a:p>
            <a:r>
              <a:rPr lang="en-IN" b="1" dirty="0"/>
              <a:t>Convolutional Block Attention Module </a:t>
            </a:r>
          </a:p>
          <a:p>
            <a:r>
              <a:rPr lang="en-GB" dirty="0"/>
              <a:t>Given an intermediate feature map, BAM sequentially infers attention maps along two separate dimensions, channel and spatial, then the attention maps are multiplied to the input feature map for adaptive feature refinement.</a:t>
            </a:r>
          </a:p>
          <a:p>
            <a:r>
              <a:rPr lang="en-GB" dirty="0"/>
              <a:t>CBAM can be integrated into any CNN architectures seamlessly with negligible overheads and is end-to-end trainable along with base CNNs.</a:t>
            </a:r>
          </a:p>
          <a:p>
            <a:endParaRPr lang="en-IN" b="1" dirty="0"/>
          </a:p>
          <a:p>
            <a:endParaRPr lang="en-IN" b="1" dirty="0"/>
          </a:p>
          <a:p>
            <a:endParaRPr lang="en-IN" dirty="0"/>
          </a:p>
        </p:txBody>
      </p:sp>
      <p:pic>
        <p:nvPicPr>
          <p:cNvPr id="5" name="Picture 4">
            <a:extLst>
              <a:ext uri="{FF2B5EF4-FFF2-40B4-BE49-F238E27FC236}">
                <a16:creationId xmlns:a16="http://schemas.microsoft.com/office/drawing/2014/main" id="{ED281DED-5065-C0EE-EA5E-431F04793082}"/>
              </a:ext>
            </a:extLst>
          </p:cNvPr>
          <p:cNvPicPr>
            <a:picLocks noChangeAspect="1"/>
          </p:cNvPicPr>
          <p:nvPr/>
        </p:nvPicPr>
        <p:blipFill>
          <a:blip r:embed="rId2"/>
          <a:stretch>
            <a:fillRect/>
          </a:stretch>
        </p:blipFill>
        <p:spPr>
          <a:xfrm>
            <a:off x="2132196" y="3647627"/>
            <a:ext cx="10059804" cy="3210373"/>
          </a:xfrm>
          <a:prstGeom prst="rect">
            <a:avLst/>
          </a:prstGeom>
        </p:spPr>
      </p:pic>
    </p:spTree>
    <p:extLst>
      <p:ext uri="{BB962C8B-B14F-4D97-AF65-F5344CB8AC3E}">
        <p14:creationId xmlns:p14="http://schemas.microsoft.com/office/powerpoint/2010/main" val="1526270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7B60-0FC2-98CA-A36C-4C8002AC8ABE}"/>
              </a:ext>
            </a:extLst>
          </p:cNvPr>
          <p:cNvSpPr>
            <a:spLocks noGrp="1"/>
          </p:cNvSpPr>
          <p:nvPr>
            <p:ph type="title"/>
          </p:nvPr>
        </p:nvSpPr>
        <p:spPr>
          <a:xfrm>
            <a:off x="2592925" y="624110"/>
            <a:ext cx="8911687" cy="640445"/>
          </a:xfrm>
        </p:spPr>
        <p:txBody>
          <a:bodyPr/>
          <a:lstStyle/>
          <a:p>
            <a:r>
              <a:rPr lang="en-IN" dirty="0"/>
              <a:t>Vision Transformer</a:t>
            </a:r>
          </a:p>
        </p:txBody>
      </p:sp>
      <p:sp>
        <p:nvSpPr>
          <p:cNvPr id="3" name="Content Placeholder 2">
            <a:extLst>
              <a:ext uri="{FF2B5EF4-FFF2-40B4-BE49-F238E27FC236}">
                <a16:creationId xmlns:a16="http://schemas.microsoft.com/office/drawing/2014/main" id="{77E114EA-5865-8F25-AA67-D930FC7E42DD}"/>
              </a:ext>
            </a:extLst>
          </p:cNvPr>
          <p:cNvSpPr>
            <a:spLocks noGrp="1"/>
          </p:cNvSpPr>
          <p:nvPr>
            <p:ph idx="1"/>
          </p:nvPr>
        </p:nvSpPr>
        <p:spPr>
          <a:xfrm>
            <a:off x="2592925" y="1264555"/>
            <a:ext cx="8915400" cy="3058070"/>
          </a:xfrm>
        </p:spPr>
        <p:txBody>
          <a:bodyPr/>
          <a:lstStyle/>
          <a:p>
            <a:pPr fontAlgn="base"/>
            <a:r>
              <a:rPr lang="en-GB" b="1" dirty="0"/>
              <a:t>Input Image Processing:</a:t>
            </a:r>
            <a:r>
              <a:rPr lang="en-GB" dirty="0"/>
              <a:t> The input image is divided into patches, which are flattened and embedded using a linear projection.</a:t>
            </a:r>
          </a:p>
          <a:p>
            <a:pPr fontAlgn="base"/>
            <a:r>
              <a:rPr lang="en-GB" b="1" dirty="0"/>
              <a:t>Positional Encoding:</a:t>
            </a:r>
            <a:r>
              <a:rPr lang="en-GB" dirty="0"/>
              <a:t> Positional encodings are added to the patch embeddings to retain spatial information.</a:t>
            </a:r>
          </a:p>
          <a:p>
            <a:pPr fontAlgn="base"/>
            <a:r>
              <a:rPr lang="en-GB" b="1" dirty="0"/>
              <a:t>Transformer Encoder:</a:t>
            </a:r>
            <a:r>
              <a:rPr lang="en-GB" dirty="0"/>
              <a:t> The patch embeddings (along with the CLS token) are passed through multiple transformer encoder layers, which include multi-head self-attention and feed-forward networks.</a:t>
            </a:r>
          </a:p>
          <a:p>
            <a:pPr fontAlgn="base"/>
            <a:r>
              <a:rPr lang="en-GB" b="1" dirty="0"/>
              <a:t>Classification Head:</a:t>
            </a:r>
            <a:r>
              <a:rPr lang="en-GB" dirty="0"/>
              <a:t> The CLS token's output is extracted and fed into an MLP for final classification.</a:t>
            </a:r>
          </a:p>
        </p:txBody>
      </p:sp>
      <p:pic>
        <p:nvPicPr>
          <p:cNvPr id="7" name="Picture 6">
            <a:extLst>
              <a:ext uri="{FF2B5EF4-FFF2-40B4-BE49-F238E27FC236}">
                <a16:creationId xmlns:a16="http://schemas.microsoft.com/office/drawing/2014/main" id="{588958CF-6E7F-C557-0088-26F1D0132F56}"/>
              </a:ext>
            </a:extLst>
          </p:cNvPr>
          <p:cNvPicPr>
            <a:picLocks noChangeAspect="1"/>
          </p:cNvPicPr>
          <p:nvPr/>
        </p:nvPicPr>
        <p:blipFill>
          <a:blip r:embed="rId2"/>
          <a:stretch>
            <a:fillRect/>
          </a:stretch>
        </p:blipFill>
        <p:spPr>
          <a:xfrm>
            <a:off x="2995042" y="4322625"/>
            <a:ext cx="8107452" cy="2541639"/>
          </a:xfrm>
          <a:prstGeom prst="rect">
            <a:avLst/>
          </a:prstGeom>
        </p:spPr>
      </p:pic>
    </p:spTree>
    <p:extLst>
      <p:ext uri="{BB962C8B-B14F-4D97-AF65-F5344CB8AC3E}">
        <p14:creationId xmlns:p14="http://schemas.microsoft.com/office/powerpoint/2010/main" val="480165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A5E2-99EF-4924-5DE1-3549A30BC315}"/>
              </a:ext>
            </a:extLst>
          </p:cNvPr>
          <p:cNvSpPr>
            <a:spLocks noGrp="1"/>
          </p:cNvSpPr>
          <p:nvPr>
            <p:ph type="title"/>
          </p:nvPr>
        </p:nvSpPr>
        <p:spPr/>
        <p:txBody>
          <a:bodyPr/>
          <a:lstStyle/>
          <a:p>
            <a:r>
              <a:rPr lang="en-IN" dirty="0"/>
              <a:t>Architecture design</a:t>
            </a:r>
          </a:p>
        </p:txBody>
      </p:sp>
      <p:pic>
        <p:nvPicPr>
          <p:cNvPr id="7" name="Picture 6">
            <a:extLst>
              <a:ext uri="{FF2B5EF4-FFF2-40B4-BE49-F238E27FC236}">
                <a16:creationId xmlns:a16="http://schemas.microsoft.com/office/drawing/2014/main" id="{6F3CAC5E-DF26-7EC9-E294-BD83B702B2D0}"/>
              </a:ext>
            </a:extLst>
          </p:cNvPr>
          <p:cNvPicPr>
            <a:picLocks noChangeAspect="1"/>
          </p:cNvPicPr>
          <p:nvPr/>
        </p:nvPicPr>
        <p:blipFill>
          <a:blip r:embed="rId2"/>
          <a:srcRect l="899" t="896" r="2794" b="1343"/>
          <a:stretch>
            <a:fillRect/>
          </a:stretch>
        </p:blipFill>
        <p:spPr>
          <a:xfrm>
            <a:off x="2290916" y="1490158"/>
            <a:ext cx="9773265" cy="5367842"/>
          </a:xfrm>
          <a:prstGeom prst="rect">
            <a:avLst/>
          </a:prstGeom>
          <a:ln>
            <a:solidFill>
              <a:schemeClr val="bg1"/>
            </a:solidFill>
          </a:ln>
        </p:spPr>
      </p:pic>
    </p:spTree>
    <p:extLst>
      <p:ext uri="{BB962C8B-B14F-4D97-AF65-F5344CB8AC3E}">
        <p14:creationId xmlns:p14="http://schemas.microsoft.com/office/powerpoint/2010/main" val="3266043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187AA-1E72-E035-50BD-4C3A68590F28}"/>
              </a:ext>
            </a:extLst>
          </p:cNvPr>
          <p:cNvSpPr>
            <a:spLocks noGrp="1"/>
          </p:cNvSpPr>
          <p:nvPr>
            <p:ph type="title"/>
          </p:nvPr>
        </p:nvSpPr>
        <p:spPr>
          <a:xfrm>
            <a:off x="1917289" y="553176"/>
            <a:ext cx="8911687" cy="1280890"/>
          </a:xfrm>
        </p:spPr>
        <p:txBody>
          <a:bodyPr/>
          <a:lstStyle/>
          <a:p>
            <a:r>
              <a:rPr lang="en-IN" dirty="0"/>
              <a:t>Architecture design</a:t>
            </a:r>
          </a:p>
        </p:txBody>
      </p:sp>
      <p:sp>
        <p:nvSpPr>
          <p:cNvPr id="4" name="Rectangle 1">
            <a:extLst>
              <a:ext uri="{FF2B5EF4-FFF2-40B4-BE49-F238E27FC236}">
                <a16:creationId xmlns:a16="http://schemas.microsoft.com/office/drawing/2014/main" id="{9F157EE8-4EA6-54F9-6D04-7937F579064F}"/>
              </a:ext>
            </a:extLst>
          </p:cNvPr>
          <p:cNvSpPr>
            <a:spLocks noGrp="1" noChangeArrowheads="1"/>
          </p:cNvSpPr>
          <p:nvPr>
            <p:ph idx="1"/>
          </p:nvPr>
        </p:nvSpPr>
        <p:spPr bwMode="auto">
          <a:xfrm>
            <a:off x="1917289" y="1617117"/>
            <a:ext cx="9999407" cy="404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Google Sans Text"/>
              </a:rPr>
              <a:t>Based on the code and schematic:</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Input:</a:t>
            </a:r>
            <a:r>
              <a:rPr kumimoji="0" lang="en-US" altLang="en-US" sz="2000" b="0" i="0" u="none" strike="noStrike" cap="none" normalizeH="0" baseline="0" dirty="0">
                <a:ln>
                  <a:noFill/>
                </a:ln>
                <a:solidFill>
                  <a:schemeClr val="tx1"/>
                </a:solidFill>
                <a:effectLst/>
                <a:latin typeface="Google Sans Text"/>
              </a:rPr>
              <a:t> (176, 208, 1) + Gaussian Noise (for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Early Blocks (1-2):</a:t>
            </a:r>
            <a:endParaRPr kumimoji="0" lang="en-US" altLang="en-US" sz="20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ogle Sans Text"/>
              </a:rPr>
              <a:t>Conv2D =&gt; Batch Normalization =&gt; </a:t>
            </a:r>
            <a:r>
              <a:rPr kumimoji="0" lang="en-US" altLang="en-US" sz="2000" b="0" i="0" u="none" strike="noStrike" cap="none" normalizeH="0" baseline="0" dirty="0" err="1">
                <a:ln>
                  <a:noFill/>
                </a:ln>
                <a:solidFill>
                  <a:schemeClr val="tx1"/>
                </a:solidFill>
                <a:effectLst/>
                <a:latin typeface="Google Sans Text"/>
              </a:rPr>
              <a:t>ReLU</a:t>
            </a:r>
            <a:r>
              <a:rPr kumimoji="0" lang="en-US" altLang="en-US" sz="2000" b="0" i="0" u="none" strike="noStrike" cap="none" normalizeH="0" baseline="0" dirty="0">
                <a:ln>
                  <a:noFill/>
                </a:ln>
                <a:solidFill>
                  <a:schemeClr val="tx1"/>
                </a:solidFill>
                <a:effectLst/>
                <a:latin typeface="Google Sans Text"/>
              </a:rPr>
              <a:t> Activation.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CBAM Block:</a:t>
            </a:r>
            <a:r>
              <a:rPr kumimoji="0" lang="en-US" altLang="en-US" sz="2000" b="0" i="0" u="none" strike="noStrike" cap="none" normalizeH="0" baseline="0" dirty="0">
                <a:ln>
                  <a:noFill/>
                </a:ln>
                <a:solidFill>
                  <a:schemeClr val="tx1"/>
                </a:solidFill>
                <a:effectLst/>
                <a:latin typeface="Google Sans Text"/>
              </a:rPr>
              <a:t> Refines the feature map.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ogle Sans Text"/>
              </a:rPr>
              <a:t>Max Pooling: Reduces dimensionality.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Deep Blocks (3-5):</a:t>
            </a:r>
            <a:endParaRPr kumimoji="0" lang="en-US" altLang="en-US" sz="20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Hybrid Branching:</a:t>
            </a:r>
            <a:endParaRPr kumimoji="0" lang="en-US" altLang="en-US" sz="2000" b="0" i="0" u="none" strike="noStrike" cap="none" normalizeH="0" baseline="0" dirty="0">
              <a:ln>
                <a:noFill/>
              </a:ln>
              <a:solidFill>
                <a:schemeClr val="tx1"/>
              </a:solidFill>
              <a:effectLst/>
              <a:latin typeface="Google Sans Text"/>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Path A:</a:t>
            </a:r>
            <a:r>
              <a:rPr kumimoji="0" lang="en-US" altLang="en-US" sz="2000" b="0" i="0" u="none" strike="noStrike" cap="none" normalizeH="0" baseline="0" dirty="0">
                <a:ln>
                  <a:noFill/>
                </a:ln>
                <a:solidFill>
                  <a:schemeClr val="tx1"/>
                </a:solidFill>
                <a:effectLst/>
                <a:latin typeface="Google Sans Text"/>
              </a:rPr>
              <a:t> Standard CNN layers (64, 128, 256 filters).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Path B (</a:t>
            </a:r>
            <a:r>
              <a:rPr kumimoji="0" lang="en-US" altLang="en-US" sz="2000" b="1" i="0" u="none" strike="noStrike" cap="none" normalizeH="0" baseline="0" dirty="0" err="1">
                <a:ln>
                  <a:noFill/>
                </a:ln>
                <a:solidFill>
                  <a:schemeClr val="tx1"/>
                </a:solidFill>
                <a:effectLst/>
                <a:latin typeface="Google Sans Text"/>
              </a:rPr>
              <a:t>ViT</a:t>
            </a:r>
            <a:r>
              <a:rPr kumimoji="0" lang="en-US" altLang="en-US" sz="2000" b="1" i="0" u="none" strike="noStrike" cap="none" normalizeH="0" baseline="0" dirty="0">
                <a:ln>
                  <a:noFill/>
                </a:ln>
                <a:solidFill>
                  <a:schemeClr val="tx1"/>
                </a:solidFill>
                <a:effectLst/>
                <a:latin typeface="Google Sans Text"/>
              </a:rPr>
              <a:t>):</a:t>
            </a:r>
            <a:r>
              <a:rPr kumimoji="0" lang="en-US" altLang="en-US" sz="2000" b="0" i="0" u="none" strike="noStrike" cap="none" normalizeH="0" baseline="0" dirty="0">
                <a:ln>
                  <a:noFill/>
                </a:ln>
                <a:solidFill>
                  <a:schemeClr val="tx1"/>
                </a:solidFill>
                <a:effectLst/>
                <a:latin typeface="Google Sans Text"/>
              </a:rPr>
              <a:t> Image flattened into sequence =&gt; Multi-Head Attention </a:t>
            </a:r>
            <a:r>
              <a:rPr lang="en-US" altLang="en-US" sz="2000" dirty="0">
                <a:solidFill>
                  <a:schemeClr val="tx1"/>
                </a:solidFill>
                <a:latin typeface="Google Sans Text"/>
              </a:rPr>
              <a:t>=&gt; </a:t>
            </a:r>
            <a:r>
              <a:rPr kumimoji="0" lang="en-US" altLang="en-US" sz="2000" b="0" i="0" u="none" strike="noStrike" cap="none" normalizeH="0" baseline="0" dirty="0">
                <a:ln>
                  <a:noFill/>
                </a:ln>
                <a:solidFill>
                  <a:schemeClr val="tx1"/>
                </a:solidFill>
                <a:effectLst/>
                <a:latin typeface="Google Sans Text"/>
              </a:rPr>
              <a:t>MLP.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Fusion:</a:t>
            </a:r>
            <a:r>
              <a:rPr kumimoji="0" lang="en-US" altLang="en-US" sz="2000" b="0" i="0" u="none" strike="noStrike" cap="none" normalizeH="0" baseline="0" dirty="0">
                <a:ln>
                  <a:noFill/>
                </a:ln>
                <a:solidFill>
                  <a:schemeClr val="tx1"/>
                </a:solidFill>
                <a:effectLst/>
                <a:latin typeface="Google Sans Text"/>
              </a:rPr>
              <a:t> Path A and Path B are added (Residual Connection).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Classification Head:</a:t>
            </a:r>
            <a:r>
              <a:rPr kumimoji="0" lang="en-US" altLang="en-US" sz="2000" b="0" i="0" u="none" strike="noStrike" cap="none" normalizeH="0" baseline="0" dirty="0">
                <a:ln>
                  <a:noFill/>
                </a:ln>
                <a:solidFill>
                  <a:schemeClr val="tx1"/>
                </a:solidFill>
                <a:effectLst/>
                <a:latin typeface="Google Sans Text"/>
              </a:rPr>
              <a:t> Global Average Pooling =&gt; Dense (256) =&gt; Output (4 Classes, </a:t>
            </a:r>
            <a:r>
              <a:rPr kumimoji="0" lang="en-US" altLang="en-US" sz="2000" b="0" i="0" u="none" strike="noStrike" cap="none" normalizeH="0" baseline="0" dirty="0" err="1">
                <a:ln>
                  <a:noFill/>
                </a:ln>
                <a:solidFill>
                  <a:schemeClr val="tx1"/>
                </a:solidFill>
                <a:effectLst/>
                <a:latin typeface="Google Sans Text"/>
              </a:rPr>
              <a:t>Softmax</a:t>
            </a:r>
            <a:r>
              <a:rPr kumimoji="0" lang="en-US" altLang="en-US" sz="20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8654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6046-AD25-7323-D739-F6B1597D3F37}"/>
              </a:ext>
            </a:extLst>
          </p:cNvPr>
          <p:cNvSpPr>
            <a:spLocks noGrp="1"/>
          </p:cNvSpPr>
          <p:nvPr>
            <p:ph type="title"/>
          </p:nvPr>
        </p:nvSpPr>
        <p:spPr>
          <a:xfrm>
            <a:off x="2592925" y="643775"/>
            <a:ext cx="8911687" cy="1280890"/>
          </a:xfrm>
        </p:spPr>
        <p:txBody>
          <a:bodyPr/>
          <a:lstStyle/>
          <a:p>
            <a:r>
              <a:rPr lang="en-IN" dirty="0"/>
              <a:t>Implementation details</a:t>
            </a:r>
          </a:p>
        </p:txBody>
      </p:sp>
      <p:sp>
        <p:nvSpPr>
          <p:cNvPr id="7" name="Rectangle 4">
            <a:extLst>
              <a:ext uri="{FF2B5EF4-FFF2-40B4-BE49-F238E27FC236}">
                <a16:creationId xmlns:a16="http://schemas.microsoft.com/office/drawing/2014/main" id="{4D08F15F-7942-A195-8B67-6977FAA8CE0F}"/>
              </a:ext>
            </a:extLst>
          </p:cNvPr>
          <p:cNvSpPr>
            <a:spLocks noGrp="1" noChangeArrowheads="1"/>
          </p:cNvSpPr>
          <p:nvPr>
            <p:ph idx="1"/>
          </p:nvPr>
        </p:nvSpPr>
        <p:spPr bwMode="auto">
          <a:xfrm>
            <a:off x="2589212" y="2768224"/>
            <a:ext cx="8993187" cy="2508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Framework:</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TensorFlow/</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Keras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Optimizer:</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Adam (LR = 0.0001).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Regularization: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L2 Regularization (0.005) and Dropout (0.3 to 0.5) significantly used to fight overfitting on the MRI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Callbacks:</a:t>
            </a:r>
          </a:p>
          <a:p>
            <a:pPr marL="400050" lvl="1" indent="0" defTabSz="914400" eaLnBrk="0" fontAlgn="base" hangingPunct="0">
              <a:spcBef>
                <a:spcPct val="0"/>
              </a:spcBef>
              <a:spcAft>
                <a:spcPct val="0"/>
              </a:spcAft>
              <a:buClrTx/>
              <a:buFontTx/>
              <a:buChar char="•"/>
            </a:pPr>
            <a:r>
              <a:rPr lang="en-GB" sz="2000" dirty="0">
                <a:solidFill>
                  <a:schemeClr val="tx1"/>
                </a:solidFill>
                <a:latin typeface="Arial" panose="020B0604020202020204" pitchFamily="34" charset="0"/>
                <a:cs typeface="Arial" panose="020B0604020202020204" pitchFamily="34" charset="0"/>
              </a:rPr>
              <a:t>Reduce LR on plateau : Halves learning rate if validation loss stagnates</a:t>
            </a:r>
          </a:p>
          <a:p>
            <a:pPr marL="400050" lvl="1" indent="0" defTabSz="914400" eaLnBrk="0" fontAlgn="base" hangingPunct="0">
              <a:spcBef>
                <a:spcPct val="0"/>
              </a:spcBef>
              <a:spcAft>
                <a:spcPct val="0"/>
              </a:spcAft>
              <a:buClrTx/>
              <a:buFontTx/>
              <a:buChar char="•"/>
            </a:pPr>
            <a:r>
              <a:rPr lang="en-GB" sz="2000" dirty="0">
                <a:solidFill>
                  <a:schemeClr val="tx1"/>
                </a:solidFill>
                <a:latin typeface="Arial" panose="020B0604020202020204" pitchFamily="34" charset="0"/>
                <a:cs typeface="Arial" panose="020B0604020202020204" pitchFamily="34" charset="0"/>
              </a:rPr>
              <a:t>Early Stopping : Stops training if accuracy doesn't improve for 8 epochs.</a:t>
            </a:r>
          </a:p>
          <a:p>
            <a:pPr marL="0" indent="0" defTabSz="914400" eaLnBrk="0" fontAlgn="base" hangingPunct="0">
              <a:spcBef>
                <a:spcPct val="0"/>
              </a:spcBef>
              <a:spcAft>
                <a:spcPct val="0"/>
              </a:spcAft>
              <a:buClrTx/>
              <a:buFontTx/>
              <a:buChar char="•"/>
            </a:pPr>
            <a:r>
              <a:rPr lang="en-GB" sz="2000" b="1" dirty="0">
                <a:solidFill>
                  <a:schemeClr val="tx1"/>
                </a:solidFill>
                <a:latin typeface="Arial" panose="020B0604020202020204" pitchFamily="34" charset="0"/>
                <a:cs typeface="Arial" panose="020B0604020202020204" pitchFamily="34" charset="0"/>
              </a:rPr>
              <a:t>Batch Size:</a:t>
            </a:r>
            <a:r>
              <a:rPr lang="en-GB" sz="2000" dirty="0">
                <a:solidFill>
                  <a:schemeClr val="tx1"/>
                </a:solidFill>
                <a:latin typeface="Arial" panose="020B0604020202020204" pitchFamily="34" charset="0"/>
                <a:cs typeface="Arial" panose="020B0604020202020204" pitchFamily="34" charset="0"/>
              </a:rPr>
              <a:t> 16 (tuned for stability).</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00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12B2-BBE7-126C-107F-494D450F335A}"/>
              </a:ext>
            </a:extLst>
          </p:cNvPr>
          <p:cNvSpPr>
            <a:spLocks noGrp="1"/>
          </p:cNvSpPr>
          <p:nvPr>
            <p:ph type="title"/>
          </p:nvPr>
        </p:nvSpPr>
        <p:spPr/>
        <p:txBody>
          <a:bodyPr/>
          <a:lstStyle/>
          <a:p>
            <a:r>
              <a:rPr lang="en-IN" dirty="0"/>
              <a:t>Learning Curve</a:t>
            </a:r>
          </a:p>
        </p:txBody>
      </p:sp>
      <p:pic>
        <p:nvPicPr>
          <p:cNvPr id="5" name="Content Placeholder 4">
            <a:extLst>
              <a:ext uri="{FF2B5EF4-FFF2-40B4-BE49-F238E27FC236}">
                <a16:creationId xmlns:a16="http://schemas.microsoft.com/office/drawing/2014/main" id="{FD6E2103-F817-C9BF-3639-36FBCD653C55}"/>
              </a:ext>
            </a:extLst>
          </p:cNvPr>
          <p:cNvPicPr>
            <a:picLocks noGrp="1" noChangeAspect="1"/>
          </p:cNvPicPr>
          <p:nvPr>
            <p:ph idx="1"/>
          </p:nvPr>
        </p:nvPicPr>
        <p:blipFill>
          <a:blip r:embed="rId2"/>
          <a:stretch>
            <a:fillRect/>
          </a:stretch>
        </p:blipFill>
        <p:spPr>
          <a:xfrm>
            <a:off x="2592925" y="1769806"/>
            <a:ext cx="8243454" cy="3778250"/>
          </a:xfrm>
          <a:prstGeom prst="rect">
            <a:avLst/>
          </a:prstGeom>
        </p:spPr>
      </p:pic>
    </p:spTree>
    <p:extLst>
      <p:ext uri="{BB962C8B-B14F-4D97-AF65-F5344CB8AC3E}">
        <p14:creationId xmlns:p14="http://schemas.microsoft.com/office/powerpoint/2010/main" val="4092588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1CB9-1F5D-79D4-ACA8-012D7C2C7259}"/>
              </a:ext>
            </a:extLst>
          </p:cNvPr>
          <p:cNvSpPr>
            <a:spLocks noGrp="1"/>
          </p:cNvSpPr>
          <p:nvPr>
            <p:ph type="title"/>
          </p:nvPr>
        </p:nvSpPr>
        <p:spPr/>
        <p:txBody>
          <a:bodyPr/>
          <a:lstStyle/>
          <a:p>
            <a:r>
              <a:rPr lang="en-IN" dirty="0"/>
              <a:t>Results</a:t>
            </a:r>
          </a:p>
        </p:txBody>
      </p:sp>
      <p:sp>
        <p:nvSpPr>
          <p:cNvPr id="4" name="Rectangle 1">
            <a:extLst>
              <a:ext uri="{FF2B5EF4-FFF2-40B4-BE49-F238E27FC236}">
                <a16:creationId xmlns:a16="http://schemas.microsoft.com/office/drawing/2014/main" id="{AADCE054-6E61-84A4-EB5B-5728B5497508}"/>
              </a:ext>
            </a:extLst>
          </p:cNvPr>
          <p:cNvSpPr>
            <a:spLocks noGrp="1" noChangeArrowheads="1"/>
          </p:cNvSpPr>
          <p:nvPr>
            <p:ph idx="1"/>
          </p:nvPr>
        </p:nvSpPr>
        <p:spPr bwMode="auto">
          <a:xfrm>
            <a:off x="2283084" y="1286916"/>
            <a:ext cx="845471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Arial" panose="020B0604020202020204" pitchFamily="34" charset="0"/>
              </a:rPr>
              <a:t>Training Dynamics: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685800" lvl="1" defTabSz="914400" eaLnBrk="0" fontAlgn="base" hangingPunct="0">
              <a:spcBef>
                <a:spcPct val="0"/>
              </a:spcBef>
              <a:spcAft>
                <a:spcPct val="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The model learns steadily, with training accuracy reaching ~93% by epoch 30.</a:t>
            </a:r>
          </a:p>
          <a:p>
            <a:pPr marL="685800" lvl="1" defTabSz="914400" eaLnBrk="0" fontAlgn="base" hangingPunct="0">
              <a:spcBef>
                <a:spcPct val="0"/>
              </a:spcBef>
              <a:spcAft>
                <a:spcPct val="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Validation accuracy stabilizes, showing the model generalizes well despite the complex architecture.</a:t>
            </a:r>
            <a:endParaRPr lang="en-US" altLang="en-US" sz="2000" dirty="0">
              <a:solidFill>
                <a:schemeClr val="tx1"/>
              </a:solidFill>
              <a:latin typeface="Arial" panose="020B0604020202020204" pitchFamily="34" charset="0"/>
            </a:endParaRPr>
          </a:p>
          <a:p>
            <a:pPr marL="285750" defTabSz="914400" eaLnBrk="0" fontAlgn="base" hangingPunct="0">
              <a:spcBef>
                <a:spcPct val="0"/>
              </a:spcBef>
              <a:spcAft>
                <a:spcPct val="0"/>
              </a:spcAft>
              <a:buClr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Arial" panose="020B0604020202020204" pitchFamily="34" charset="0"/>
              </a:rPr>
              <a:t>Final Metrics:</a:t>
            </a:r>
            <a:endParaRPr lang="en-US" altLang="en-US" sz="2000" dirty="0">
              <a:solidFill>
                <a:schemeClr val="tx1"/>
              </a:solidFill>
              <a:latin typeface="Arial" panose="020B0604020202020204" pitchFamily="34" charset="0"/>
            </a:endParaRPr>
          </a:p>
          <a:p>
            <a:pPr marL="685800" lvl="1" defTabSz="914400" eaLnBrk="0" fontAlgn="base" hangingPunct="0">
              <a:spcBef>
                <a:spcPct val="0"/>
              </a:spcBef>
              <a:spcAft>
                <a:spcPct val="0"/>
              </a:spcAft>
              <a:buClrTx/>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Arial" panose="020B0604020202020204" pitchFamily="34" charset="0"/>
              </a:rPr>
              <a:t>Final Validation Accuracy: 0.82.</a:t>
            </a:r>
          </a:p>
          <a:p>
            <a:pPr marL="685800" lvl="1" defTabSz="914400" eaLnBrk="0" fontAlgn="base" hangingPunct="0">
              <a:spcBef>
                <a:spcPct val="0"/>
              </a:spcBef>
              <a:spcAft>
                <a:spcPct val="0"/>
              </a:spcAft>
              <a:buClrTx/>
              <a:buFont typeface="Wingdings" panose="05000000000000000000" pitchFamily="2" charset="2"/>
              <a:buChar char="Ø"/>
            </a:pPr>
            <a:r>
              <a:rPr lang="en-US" altLang="en-US" sz="2000" dirty="0">
                <a:solidFill>
                  <a:schemeClr val="tx1"/>
                </a:solidFill>
                <a:latin typeface="Arial" panose="020B0604020202020204" pitchFamily="34" charset="0"/>
              </a:rPr>
              <a:t>Final Precision : 0.87</a:t>
            </a:r>
          </a:p>
          <a:p>
            <a:pPr marL="685800" lvl="1" defTabSz="914400" eaLnBrk="0" fontAlgn="base" hangingPunct="0">
              <a:spcBef>
                <a:spcPct val="0"/>
              </a:spcBef>
              <a:spcAft>
                <a:spcPct val="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Final </a:t>
            </a:r>
            <a:r>
              <a:rPr lang="en-US" altLang="en-US" sz="2000" dirty="0">
                <a:solidFill>
                  <a:schemeClr val="tx1"/>
                </a:solidFill>
                <a:latin typeface="Arial" panose="020B0604020202020204" pitchFamily="34" charset="0"/>
              </a:rPr>
              <a:t>Recall : 0.80</a:t>
            </a:r>
          </a:p>
          <a:p>
            <a:pPr marL="685800" lvl="1" defTabSz="914400" eaLnBrk="0" fontAlgn="base" hangingPunct="0">
              <a:spcBef>
                <a:spcPct val="0"/>
              </a:spcBef>
              <a:spcAft>
                <a:spcPct val="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F1-score : 0.83</a:t>
            </a:r>
          </a:p>
          <a:p>
            <a:pPr marL="685800" lvl="1" defTabSz="914400" eaLnBrk="0" fontAlgn="base" hangingPunct="0">
              <a:spcBef>
                <a:spcPct val="0"/>
              </a:spcBef>
              <a:spcAft>
                <a:spcPct val="0"/>
              </a:spcAft>
              <a:buClr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Arial" panose="020B0604020202020204" pitchFamily="34" charset="0"/>
              </a:rPr>
              <a:t>Loss:</a:t>
            </a:r>
            <a:r>
              <a:rPr kumimoji="0" lang="en-US" altLang="en-US" sz="2000" b="0" i="0" u="none" strike="noStrike" cap="none" normalizeH="0" baseline="0" dirty="0">
                <a:ln>
                  <a:noFill/>
                </a:ln>
                <a:solidFill>
                  <a:schemeClr val="tx1"/>
                </a:solidFill>
                <a:effectLst/>
                <a:latin typeface="Arial" panose="020B0604020202020204" pitchFamily="34" charset="0"/>
              </a:rPr>
              <a:t> ~0.88.</a:t>
            </a:r>
          </a:p>
        </p:txBody>
      </p:sp>
      <p:graphicFrame>
        <p:nvGraphicFramePr>
          <p:cNvPr id="6" name="Table 5">
            <a:extLst>
              <a:ext uri="{FF2B5EF4-FFF2-40B4-BE49-F238E27FC236}">
                <a16:creationId xmlns:a16="http://schemas.microsoft.com/office/drawing/2014/main" id="{A7766F90-A91B-CE3C-A527-0D8449DCE02A}"/>
              </a:ext>
            </a:extLst>
          </p:cNvPr>
          <p:cNvGraphicFramePr>
            <a:graphicFrameLocks noGrp="1"/>
          </p:cNvGraphicFramePr>
          <p:nvPr>
            <p:extLst>
              <p:ext uri="{D42A27DB-BD31-4B8C-83A1-F6EECF244321}">
                <p14:modId xmlns:p14="http://schemas.microsoft.com/office/powerpoint/2010/main" val="1562945846"/>
              </p:ext>
            </p:extLst>
          </p:nvPr>
        </p:nvGraphicFramePr>
        <p:xfrm>
          <a:off x="2446441" y="4764791"/>
          <a:ext cx="8128000" cy="206095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186205695"/>
                    </a:ext>
                  </a:extLst>
                </a:gridCol>
                <a:gridCol w="2032000">
                  <a:extLst>
                    <a:ext uri="{9D8B030D-6E8A-4147-A177-3AD203B41FA5}">
                      <a16:colId xmlns:a16="http://schemas.microsoft.com/office/drawing/2014/main" val="3341710516"/>
                    </a:ext>
                  </a:extLst>
                </a:gridCol>
                <a:gridCol w="2032000">
                  <a:extLst>
                    <a:ext uri="{9D8B030D-6E8A-4147-A177-3AD203B41FA5}">
                      <a16:colId xmlns:a16="http://schemas.microsoft.com/office/drawing/2014/main" val="1907629427"/>
                    </a:ext>
                  </a:extLst>
                </a:gridCol>
                <a:gridCol w="2032000">
                  <a:extLst>
                    <a:ext uri="{9D8B030D-6E8A-4147-A177-3AD203B41FA5}">
                      <a16:colId xmlns:a16="http://schemas.microsoft.com/office/drawing/2014/main" val="147138420"/>
                    </a:ext>
                  </a:extLst>
                </a:gridCol>
              </a:tblGrid>
              <a:tr h="370840">
                <a:tc>
                  <a:txBody>
                    <a:bodyPr/>
                    <a:lstStyle/>
                    <a:p>
                      <a:r>
                        <a:rPr lang="en-IN" dirty="0"/>
                        <a:t>Class</a:t>
                      </a:r>
                    </a:p>
                  </a:txBody>
                  <a:tcPr/>
                </a:tc>
                <a:tc>
                  <a:txBody>
                    <a:bodyPr/>
                    <a:lstStyle/>
                    <a:p>
                      <a:r>
                        <a:rPr lang="en-IN" dirty="0"/>
                        <a:t>Precision</a:t>
                      </a:r>
                    </a:p>
                  </a:txBody>
                  <a:tcPr/>
                </a:tc>
                <a:tc>
                  <a:txBody>
                    <a:bodyPr/>
                    <a:lstStyle/>
                    <a:p>
                      <a:r>
                        <a:rPr lang="en-IN" dirty="0"/>
                        <a:t>Recall</a:t>
                      </a:r>
                    </a:p>
                  </a:txBody>
                  <a:tcPr/>
                </a:tc>
                <a:tc>
                  <a:txBody>
                    <a:bodyPr/>
                    <a:lstStyle/>
                    <a:p>
                      <a:r>
                        <a:rPr lang="en-IN" dirty="0"/>
                        <a:t>F1-Score</a:t>
                      </a:r>
                    </a:p>
                  </a:txBody>
                  <a:tcPr/>
                </a:tc>
                <a:extLst>
                  <a:ext uri="{0D108BD9-81ED-4DB2-BD59-A6C34878D82A}">
                    <a16:rowId xmlns:a16="http://schemas.microsoft.com/office/drawing/2014/main" val="3353553057"/>
                  </a:ext>
                </a:extLst>
              </a:tr>
              <a:tr h="472823">
                <a:tc>
                  <a:txBody>
                    <a:bodyPr/>
                    <a:lstStyle/>
                    <a:p>
                      <a:r>
                        <a:rPr lang="en-IN" dirty="0"/>
                        <a:t>Mild-demented</a:t>
                      </a:r>
                    </a:p>
                  </a:txBody>
                  <a:tcPr/>
                </a:tc>
                <a:tc>
                  <a:txBody>
                    <a:bodyPr/>
                    <a:lstStyle/>
                    <a:p>
                      <a:r>
                        <a:rPr lang="en-IN" dirty="0"/>
                        <a:t>0.84</a:t>
                      </a:r>
                    </a:p>
                  </a:txBody>
                  <a:tcPr/>
                </a:tc>
                <a:tc>
                  <a:txBody>
                    <a:bodyPr/>
                    <a:lstStyle/>
                    <a:p>
                      <a:r>
                        <a:rPr lang="en-IN" dirty="0"/>
                        <a:t>0.75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0.79</a:t>
                      </a:r>
                    </a:p>
                  </a:txBody>
                  <a:tcPr/>
                </a:tc>
                <a:extLst>
                  <a:ext uri="{0D108BD9-81ED-4DB2-BD59-A6C34878D82A}">
                    <a16:rowId xmlns:a16="http://schemas.microsoft.com/office/drawing/2014/main" val="3178806803"/>
                  </a:ext>
                </a:extLst>
              </a:tr>
              <a:tr h="475609">
                <a:tc>
                  <a:txBody>
                    <a:bodyPr/>
                    <a:lstStyle/>
                    <a:p>
                      <a:r>
                        <a:rPr lang="en-IN" dirty="0"/>
                        <a:t>Moderate</a:t>
                      </a:r>
                    </a:p>
                  </a:txBody>
                  <a:tcPr/>
                </a:tc>
                <a:tc>
                  <a:txBody>
                    <a:bodyPr/>
                    <a:lstStyle/>
                    <a:p>
                      <a:r>
                        <a:rPr lang="en-IN" dirty="0"/>
                        <a:t>0.85</a:t>
                      </a:r>
                    </a:p>
                  </a:txBody>
                  <a:tcPr/>
                </a:tc>
                <a:tc>
                  <a:txBody>
                    <a:bodyPr/>
                    <a:lstStyle/>
                    <a:p>
                      <a:r>
                        <a:rPr lang="en-IN" dirty="0"/>
                        <a:t>0.77</a:t>
                      </a:r>
                    </a:p>
                  </a:txBody>
                  <a:tcPr/>
                </a:tc>
                <a:tc>
                  <a:txBody>
                    <a:bodyPr/>
                    <a:lstStyle/>
                    <a:p>
                      <a:r>
                        <a:rPr lang="en-IN" dirty="0"/>
                        <a:t>0.81</a:t>
                      </a:r>
                    </a:p>
                  </a:txBody>
                  <a:tcPr/>
                </a:tc>
                <a:extLst>
                  <a:ext uri="{0D108BD9-81ED-4DB2-BD59-A6C34878D82A}">
                    <a16:rowId xmlns:a16="http://schemas.microsoft.com/office/drawing/2014/main" val="2535747363"/>
                  </a:ext>
                </a:extLst>
              </a:tr>
              <a:tr h="370840">
                <a:tc>
                  <a:txBody>
                    <a:bodyPr/>
                    <a:lstStyle/>
                    <a:p>
                      <a:r>
                        <a:rPr lang="en-IN" dirty="0"/>
                        <a:t>Non-demented</a:t>
                      </a:r>
                    </a:p>
                  </a:txBody>
                  <a:tcPr/>
                </a:tc>
                <a:tc>
                  <a:txBody>
                    <a:bodyPr/>
                    <a:lstStyle/>
                    <a:p>
                      <a:r>
                        <a:rPr lang="en-IN" dirty="0"/>
                        <a:t>0.87</a:t>
                      </a:r>
                    </a:p>
                  </a:txBody>
                  <a:tcPr/>
                </a:tc>
                <a:tc>
                  <a:txBody>
                    <a:bodyPr/>
                    <a:lstStyle/>
                    <a:p>
                      <a:r>
                        <a:rPr lang="en-IN" dirty="0"/>
                        <a:t>0.88</a:t>
                      </a:r>
                    </a:p>
                  </a:txBody>
                  <a:tcPr/>
                </a:tc>
                <a:tc>
                  <a:txBody>
                    <a:bodyPr/>
                    <a:lstStyle/>
                    <a:p>
                      <a:r>
                        <a:rPr lang="en-IN" dirty="0"/>
                        <a:t>0.875</a:t>
                      </a:r>
                    </a:p>
                  </a:txBody>
                  <a:tcPr/>
                </a:tc>
                <a:extLst>
                  <a:ext uri="{0D108BD9-81ED-4DB2-BD59-A6C34878D82A}">
                    <a16:rowId xmlns:a16="http://schemas.microsoft.com/office/drawing/2014/main" val="3836367854"/>
                  </a:ext>
                </a:extLst>
              </a:tr>
              <a:tr h="370840">
                <a:tc>
                  <a:txBody>
                    <a:bodyPr/>
                    <a:lstStyle/>
                    <a:p>
                      <a:r>
                        <a:rPr lang="en-IN" dirty="0"/>
                        <a:t>Very-Mild</a:t>
                      </a:r>
                    </a:p>
                  </a:txBody>
                  <a:tcPr/>
                </a:tc>
                <a:tc>
                  <a:txBody>
                    <a:bodyPr/>
                    <a:lstStyle/>
                    <a:p>
                      <a:r>
                        <a:rPr lang="en-IN" dirty="0"/>
                        <a:t>0.76</a:t>
                      </a:r>
                    </a:p>
                  </a:txBody>
                  <a:tcPr/>
                </a:tc>
                <a:tc>
                  <a:txBody>
                    <a:bodyPr/>
                    <a:lstStyle/>
                    <a:p>
                      <a:r>
                        <a:rPr lang="en-IN" dirty="0"/>
                        <a:t>0.79</a:t>
                      </a:r>
                    </a:p>
                  </a:txBody>
                  <a:tcPr/>
                </a:tc>
                <a:tc>
                  <a:txBody>
                    <a:bodyPr/>
                    <a:lstStyle/>
                    <a:p>
                      <a:r>
                        <a:rPr lang="en-IN" dirty="0"/>
                        <a:t>0.78</a:t>
                      </a:r>
                    </a:p>
                  </a:txBody>
                  <a:tcPr/>
                </a:tc>
                <a:extLst>
                  <a:ext uri="{0D108BD9-81ED-4DB2-BD59-A6C34878D82A}">
                    <a16:rowId xmlns:a16="http://schemas.microsoft.com/office/drawing/2014/main" val="634507617"/>
                  </a:ext>
                </a:extLst>
              </a:tr>
            </a:tbl>
          </a:graphicData>
        </a:graphic>
      </p:graphicFrame>
    </p:spTree>
    <p:extLst>
      <p:ext uri="{BB962C8B-B14F-4D97-AF65-F5344CB8AC3E}">
        <p14:creationId xmlns:p14="http://schemas.microsoft.com/office/powerpoint/2010/main" val="3026194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80219-884A-F9C1-3D6F-96B40F6A719B}"/>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EFC08847-FD3D-6675-136F-F94A7BBE58C0}"/>
              </a:ext>
            </a:extLst>
          </p:cNvPr>
          <p:cNvSpPr>
            <a:spLocks noGrp="1"/>
          </p:cNvSpPr>
          <p:nvPr>
            <p:ph idx="1"/>
          </p:nvPr>
        </p:nvSpPr>
        <p:spPr/>
        <p:txBody>
          <a:bodyPr/>
          <a:lstStyle/>
          <a:p>
            <a:r>
              <a:rPr lang="fr-FR" dirty="0"/>
              <a:t>Woo et al. (2018), "CBAM: Convolution Block Attention Module "</a:t>
            </a:r>
          </a:p>
          <a:p>
            <a:r>
              <a:rPr lang="en-GB" dirty="0" err="1"/>
              <a:t>Dosovitskiy</a:t>
            </a:r>
            <a:r>
              <a:rPr lang="en-GB" dirty="0"/>
              <a:t> et al. (2020), "An Image is Worth 16x16 Words: Transformers for Image Recognition at Scale“</a:t>
            </a:r>
          </a:p>
          <a:p>
            <a:r>
              <a:rPr lang="da-DK" dirty="0"/>
              <a:t>Al-Amin et al. (2025), "Hybrid-RViT: Hybridizing ResNet-50 and Vision Transformer"</a:t>
            </a:r>
            <a:endParaRPr lang="en-IN" dirty="0"/>
          </a:p>
        </p:txBody>
      </p:sp>
    </p:spTree>
    <p:extLst>
      <p:ext uri="{BB962C8B-B14F-4D97-AF65-F5344CB8AC3E}">
        <p14:creationId xmlns:p14="http://schemas.microsoft.com/office/powerpoint/2010/main" val="2706001645"/>
      </p:ext>
    </p:extLst>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623</TotalTime>
  <Words>873</Words>
  <Application>Microsoft Office PowerPoint</Application>
  <PresentationFormat>Widescreen</PresentationFormat>
  <Paragraphs>108</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Century Gothic</vt:lpstr>
      <vt:lpstr>Google Sans Text</vt:lpstr>
      <vt:lpstr>Times New Roman</vt:lpstr>
      <vt:lpstr>Wingdings</vt:lpstr>
      <vt:lpstr>Wingdings 3</vt:lpstr>
      <vt:lpstr>Wisp</vt:lpstr>
      <vt:lpstr>PowerPoint Presentation</vt:lpstr>
      <vt:lpstr>Problem Statement</vt:lpstr>
      <vt:lpstr>About Dataset Used</vt:lpstr>
      <vt:lpstr>Data Preprocessing</vt:lpstr>
      <vt:lpstr>Proposed Methodology</vt:lpstr>
      <vt:lpstr>CNN Architecture</vt:lpstr>
      <vt:lpstr>CBAM Architecture</vt:lpstr>
      <vt:lpstr>Vision Transformer</vt:lpstr>
      <vt:lpstr>Architecture design</vt:lpstr>
      <vt:lpstr>Architecture design</vt:lpstr>
      <vt:lpstr>Implementation details</vt:lpstr>
      <vt:lpstr>Learning Curve</vt:lpstr>
      <vt:lpstr>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KUMAR</dc:creator>
  <cp:lastModifiedBy>OMKAR KUMAR</cp:lastModifiedBy>
  <cp:revision>99</cp:revision>
  <dcterms:created xsi:type="dcterms:W3CDTF">2025-04-20T14:13:14Z</dcterms:created>
  <dcterms:modified xsi:type="dcterms:W3CDTF">2025-12-09T18:46:42Z</dcterms:modified>
</cp:coreProperties>
</file>